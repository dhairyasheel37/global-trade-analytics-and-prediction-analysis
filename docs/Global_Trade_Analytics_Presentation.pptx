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286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ENTERPRISE MACROECONOMIC INTELLIGENCE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Global Trade Analytics &amp;</a:t>
            </a:r>
            <a:br/>
            <a:r>
              <a:t>Predictive Intelligence Platform</a:t>
            </a:r>
          </a:p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Macroeconomic Trade Balances • Box-Jenkins ARIMA &amp; Machine Learning Projections • Geospatial Vector Mapping • What-If Tariff Simulation • Automated Executive Briefings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Author &amp; Lead Developer: Dhairyasheel Gaikwad  |  Email: dhairyasheelgaikwad8@gmail.com  |  GitHub: @dhairyasheel37</a:t>
            </a:r>
          </a:p>
          <a:p>
            <a:pPr>
              <a:defRPr sz="1100">
                <a:solidFill>
                  <a:srgbClr val="38BDF8"/>
                </a:solidFill>
                <a:latin typeface="Arial"/>
              </a:defRPr>
            </a:pPr>
            <a:r>
              <a:t>Technology Stack: Python 3.12 • FastAPI • React 19 • Vite • SQLite • Scikit-Learn • Statsmodels • ReportLab • D3 / TopoJSON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PROJECT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Bridging the gap between static trade records and predictive macroeconomic decision-making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Global Trade Analytics Platform • UN Comtrade Intelligence • Dhairyasheel Gaikwad          Slide 2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THE PROBLEM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Fragmented Trade Reporting: Asymmetric reporting periods and inconsistent commodity classifications across 190+ nations.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Static Historical Reporting: Most institutional portals offer retrospective views without forward-looking trajectory modeling.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Lack of Shock Simulation: Inability for policy analysts to simulate real-time tariff hikes, border carbon levies, or supply shocks.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Absence of Real-Time Alerting: Critical trade deficit spikes and balance reversals go unnoticed until quarterly releases.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OUR SOLUTION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Unified Micro-to-Macro Pipeline: Normalizes 3,900+ raw UN Comtrade records into clean, validated, queryable SQLite aggregates.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Advanced Econometric Suite: Formalized international indices (Lafay TBI, Revealed Trade Advantage, Grubel-Lloyd, HHI).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4-Model Forecasting Engine: Box-Jenkins ARIMA, Holt-Winters ETS, Random Forest, and Linear Regression with AIC/BIC arena.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Interactive Policy Simulator: Dynamic Armington elasticity modeling simulating price pass-through, tariff revenue, and flow diversion.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KEY PLATFORM METRICS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190 Sovereign Economies: Full geospatial TopoJSON vector coverage with directional trade flows.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2026–2030 Projections: Multi-step recursive forecasts with expanding 95% confidence intervals.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167 Automated Pytest Tests: 100% test pass rate with mathematical consistency regression guards.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Enterprise Executive Delivery: Scheduled multi-page ReportLab PDF dossiers dispatched via TLS SMTP or in-app Outbox.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Decoupled Enterprise Architecture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Modular design separating high-throughput ingestion, predictive computation, and interactive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Global Trade Analytics Platform • UN Comtrade Intelligence • Dhairyasheel Gaikwad          Slide 3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DATA &amp; INGESTION LAYER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UN Comtrade v1 REST Client: Dynamic rate limiting, pagination, M49 geographic code resolution.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SQLite Relational Core: Indexed composite tables (trade_records_v2, alert_rules, outbox_logs).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Data Cleaning Pipeline: Zero-guarded numeric coercion, schema validation, strict deduplication.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Scheduled 24h Background Cron: Autonomous background synchronization worker in FastAPI lifespan.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API &amp; COMPUTATION LAYER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FastAPI Asynchronous Gateway: JWT Bearer authentication, role-based access control (Admin / Trader).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Predictive Modeling Core: Box-Jenkins ARIMA (p,d,q), Holt-Winters ETS, Random Forest (50 trees), OLS Regression.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Scenario Simulator Engine: Armington elasticity equations computing price pass-through, diversion, and tariffs.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ReportLab &amp; OpenPyXL: Dynamic vector PDF charts and styled financial Excel workbooks.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FRONTEND &amp; DELIVERY LAYER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React 19 &amp; Vite 8 SPA: Component-driven architecture with glassmorphic enterprise styling.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D3 &amp; TopoJSON Vector Map: Interactive offline global choropleth with slide-out country drawer.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Recharts Data Visualization: Multi-series line charts, grouped bars, area envelopes, sensitivity curves.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Enterprise Outbox Dispatcher: Real-time SMTP client with TLS, simulated outbox fallback, and PDF downloads.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GEOSPATIAL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Interactive Global Trade Vector Choropleth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Zero-dependency D3 &amp; TopoJSON choropleth rendering 190 sovereign nations with real-time balance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Global Trade Analytics Platform • UN Comtrade Intelligence • Dhairyasheel Gaikwad          Slide 4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3891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CORE CAPABILITIES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100% Offline Vector Rendering: Utilizes local TopoJSON vector geometries without external map tile dependencies.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Macro Trade Classification: Color-coded trade balance equilibrium:</a:t>
            </a:r>
            <a:br/>
            <a:r>
              <a:t>  • Emerald: Surplus Powerhouse (Net Exporter)</a:t>
            </a:r>
            <a:br/>
            <a:r>
              <a:t>  • Blue: Balanced Partner (Equilibrium)</a:t>
            </a:r>
            <a:br/>
            <a:r>
              <a:t>  • Amber/Red: Structural Net Importer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Slide-Out Country Dossier Drawer: Clicking any sovereign territory smoothly slides out deep-dive metrics: bilateral exports, import sources, and historical growth.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Cross-Device Responsive: Tested across desktop (1440px), tablet (768px), and mobile (375px) viewports.</a:t>
            </a:r>
          </a:p>
        </p:txBody>
      </p:sp>
      <p:pic>
        <p:nvPicPr>
          <p:cNvPr id="9" name="Picture 8" descr="global_map_india_dra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BILATERAL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Bilateral Flow Analytics &amp; HS Commodity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Multi-tiered directional analysis tracking merchandise flows, sector market shares, and partner concentration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Global Trade Analytics Platform • UN Comtrade Intelligence • Dhairyasheel Gaikwad          Slide 5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3891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ANALYTICAL HIGHLIGHTS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Directional Balance Separation: Simultaneously tracks gross exports, gross imports, and net trade balance per bilateral pair.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Harmonized System (HS) Chapters: Granular drill-down across industrial sectors (electronics, machinery, agriculture, mineral fuels).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Server-Side Data Grid: High-throughput pagination, multi-column sorting, and 1-click CSV data export for econometric modeling.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Supplier Concentration Ranking: Identifies leading sovereign export partners and import dependencies with percentage market shares.</a:t>
            </a:r>
          </a:p>
        </p:txBody>
      </p:sp>
      <p:pic>
        <p:nvPicPr>
          <p:cNvPr id="9" name="Picture 8" descr="trade_analysis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COMPARATIVE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Bilateral Country Profile &amp; Head-to-Head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Side-by-side macroeconomic trade disparity benchmarking with mathematical symmetry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Global Trade Analytics Platform • UN Comtrade Intelligence • Dhairyasheel Gaikwad          Slide 6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3891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COMPARATIVE BENCHMARKING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Head-to-Head Country Comparison: Select any 2 nations to instantly calculate trade volume disparities and net balance gaps.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Mathematical Swap Symmetry: Strict verification that comparing Country A vs B produces mathematically mirrored differentials compared to B vs A.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Zero-Guarded Growth Rates: Prevents division-by-zero artifacts on emerging sectors with zero baseline volumes.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Bilateral Exposure Ratios: Visualizes bilateral dependencies (e.g. USA vs India, China vs Germany, Brazil vs France).</a:t>
            </a:r>
          </a:p>
        </p:txBody>
      </p:sp>
      <p:pic>
        <p:nvPicPr>
          <p:cNvPr id="9" name="Picture 8" descr="country_comparison_desktop_ind_u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MACROECONOMIC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Specialized International Trade Economic Indices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Empirical calculation of formalized trade competitiveness, specialization, and market overlap indices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Global Trade Analytics Platform • UN Comtrade Intelligence • Dhairyasheel Gaikwad          Slide 7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3891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FORMALIZED INDICES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Lafay Trade Balance Index (TBI):</a:t>
            </a:r>
            <a:br/>
            <a:r>
              <a:t>  TBI = 100 * (X - M) / (X + M), normalized in [-100, +100].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Revealed Trade Advantage (RTA / Balassa):</a:t>
            </a:r>
            <a:br/>
            <a:r>
              <a:t>  RTA = (X_i/X_w) / (M_i/M_w), evaluating true export advantage.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Grubel-Lloyd Index (GLI):</a:t>
            </a:r>
            <a:br/>
            <a:r>
              <a:t>  GLI = 1 - (|X - M| / (X + M)), quantifying intra-industry macro overlap.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Hirschman-Herfindahl Index (HHI):</a:t>
            </a:r>
            <a:br/>
            <a:r>
              <a:t>  Measures partner diversification and market concentration.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Interactive 2D Matrix Heatmaps: Hover tooltips with export-import split bars and crosshair highlighting.</a:t>
            </a:r>
          </a:p>
        </p:txBody>
      </p:sp>
      <p:pic>
        <p:nvPicPr>
          <p:cNvPr id="9" name="Picture 8" descr="economic_metrics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4041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PREDICTIVE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Advanced Machine Learning Forecasting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Dedicated univariate Box-Jenkins time-series and ensemble algorithms generating 2026–2030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Global Trade Analytics Platform • UN Comtrade Intelligence • Dhairyasheel Gaikwad          Slide 8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3891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4-MODEL FORECASTING SUITE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Box-Jenkins ARIMA (p,d,q): Automated grid search minimizing Akaike Information Criterion (AIC), stationarity differencing (d=1), and analytical variance propagation.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Holt-Winters ETS (A, Ad, N): State-space exponential smoothing with additive damped trend and level decay optimization (alpha, beta, phi).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Random Forest Regressor: 50 shallow decision trees with bootstrap aggregation to prevent macro overfitting.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Linear Regression (OLS): 3-year autoregressive lags, rolling mean, and linear time trend baseline.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Expanding 95% Confidence Intervals: Calculates statistical bounds expanding over multi-step forecast horizons (2026–2030).</a:t>
            </a:r>
          </a:p>
        </p:txBody>
      </p:sp>
      <p:pic>
        <p:nvPicPr>
          <p:cNvPr id="9" name="Picture 8" descr="ml_arima_diagnostics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408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MODEL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Model Comparison Arena &amp; Multi-Model Curve Overlay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Side-by-side metric matrix comparing out-of-sample accuracy, parsimony criteria, and simultaneous multi-curve overlays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Global Trade Analytics Platform • UN Comtrade Intelligence • Dhairyasheel Gaikwad          Slide 9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3891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THE COMPARISON ARENA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Out-of-Sample Metric Matrix: Side-by-side comparison of MAE, RMSE, MAPE, and R² across all 4 models and the Naive Mean Baseline.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Akaike (AIC) &amp; Bayesian (BIC) Scores: Penalizes model complexity to select the most statistically parsimonious architecture.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1-Click 'Deploy to Chart': Dynamically toggle which model drives the master trajectory.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Multi-Model Overlay View: Renders projections from all 4 models simultaneously branching from historical actuals into 2026–2030.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Consensus Mean Aggregation: Computes ensemble mean across all models with model divergence metrics.</a:t>
            </a:r>
          </a:p>
        </p:txBody>
      </p:sp>
      <p:pic>
        <p:nvPicPr>
          <p:cNvPr id="9" name="Picture 8" descr="ml_comparison_aren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4084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ECONOMIC POLICY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Scenario Simulator &amp; Tariff Impact Engine ('What-If')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Simulates geopolitical shocks, tariff hikes, consumer price pass-through, and trade flow diversion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Global Trade Analytics Platform • UN Comtrade Intelligence • Dhairyasheel Gaikwad          Slide 10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3891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SIMULATION CAPABILITIES</a:t>
            </a:r>
          </a:p>
          <a:p>
            <a:pPr>
              <a:spcAft>
                <a:spcPts val="500"/>
              </a:spcAft>
              <a:defRPr sz="1000">
                <a:solidFill>
                  <a:srgbClr val="CBD5E1"/>
                </a:solidFill>
              </a:defRPr>
            </a:pPr>
            <a:r>
              <a:t>• Armington Price Elasticity: Computes price pass-through and quantity demand shifts (%ΔQ = ε_d * τ) with logarithmic boundaries.</a:t>
            </a:r>
          </a:p>
          <a:p>
            <a:pPr>
              <a:spcAft>
                <a:spcPts val="500"/>
              </a:spcAft>
              <a:defRPr sz="1000">
                <a:solidFill>
                  <a:srgbClr val="CBD5E1"/>
                </a:solidFill>
              </a:defRPr>
            </a:pPr>
            <a:r>
              <a:t>• Curated Geopolitical Presets:</a:t>
            </a:r>
            <a:br/>
            <a:r>
              <a:t>  • US-China Section 301 Tariff Hike (+25%)</a:t>
            </a:r>
            <a:br/>
            <a:r>
              <a:t>  • Global Tech &amp; Electronics Slump (-15%)</a:t>
            </a:r>
            <a:br/>
            <a:r>
              <a:t>  • EU Carbon Border Adjustment Levy (+12%)</a:t>
            </a:r>
            <a:br/>
            <a:r>
              <a:t>  • Indo-US Free Trade Liberalization (-10%)</a:t>
            </a:r>
          </a:p>
          <a:p>
            <a:pPr>
              <a:spcAft>
                <a:spcPts val="500"/>
              </a:spcAft>
              <a:defRPr sz="1000">
                <a:solidFill>
                  <a:srgbClr val="CBD5E1"/>
                </a:solidFill>
              </a:defRPr>
            </a:pPr>
            <a:r>
              <a:t>• Laffer-Style Sensitivity Curves: Evaluates optimal customs revenue yields versus trade volume destruction.</a:t>
            </a:r>
          </a:p>
          <a:p>
            <a:pPr>
              <a:spcAft>
                <a:spcPts val="500"/>
              </a:spcAft>
              <a:defRPr sz="1000">
                <a:solidFill>
                  <a:srgbClr val="CBD5E1"/>
                </a:solidFill>
              </a:defRPr>
            </a:pPr>
            <a:r>
              <a:t>• Trade Diversion Winners: Models substitution effects where third-party nations capture redirected trade flows.</a:t>
            </a:r>
          </a:p>
          <a:p>
            <a:pPr>
              <a:spcAft>
                <a:spcPts val="500"/>
              </a:spcAft>
              <a:defRPr sz="1000">
                <a:solidFill>
                  <a:srgbClr val="CBD5E1"/>
                </a:solidFill>
              </a:defRPr>
            </a:pPr>
            <a:r>
              <a:t>• Automated Policy Briefing: Generates natural language executive policy summaries with 1-click CSV/JSON export.</a:t>
            </a:r>
          </a:p>
        </p:txBody>
      </p:sp>
      <p:pic>
        <p:nvPicPr>
          <p:cNvPr id="9" name="Picture 8" descr="scenario_simulato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45948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DATA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Live UN Comtrade API Ingestion &amp; Data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Automated synchronization pipeline querying UN Comtrade v1 REST APIs with rate limiting and audit trail 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Global Trade Analytics Platform • UN Comtrade Intelligence • Dhairyasheel Gaikwad          Slide 11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3891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DATA PIPELINE HIGHLIGHTS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UN Comtrade v1 REST Client: Dynamic rate limiting, pagination, M49 geographic code resolution, and reference metadata caching.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Background 24h Scheduler: Asynchronous background worker in FastAPI lifespan executing validation, cleaning, deduplication, and database indexing.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Drag-and-Drop Ingestion Portal: Drag-and-drop dropzone on /data-management with instant schema checking and audit trail logging.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Zero-Data Corruption Guard: Enforces database transactions and rollback safety on malformed CSV records.</a:t>
            </a:r>
          </a:p>
        </p:txBody>
      </p:sp>
      <p:pic>
        <p:nvPicPr>
          <p:cNvPr id="9" name="Picture 8" descr="data_management_live_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4254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ENTERPRISE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Automated Executive Briefings &amp; Risk Alerts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Automated PDF dossier subscriptions and intelligent macroeconomic anomaly threshold monitors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Global Trade Analytics Platform • UN Comtrade Intelligence • Dhairyasheel Gaikwad          Slide 12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3891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DELIVERY &amp; ALERTING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Recurring Executive PDF Dossiers: Dispatches high-resolution multi-page PDF reports (Daily, Weekly, Monthly, On-Sync).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Macroeconomic Threshold Rules:</a:t>
            </a:r>
            <a:br/>
            <a:r>
              <a:t>  • Deficit Expansion YoY (&gt; 20%)</a:t>
            </a:r>
            <a:br/>
            <a:r>
              <a:t>  • Severe Export Contraction (&gt; 15%)</a:t>
            </a:r>
            <a:br/>
            <a:r>
              <a:t>  • Sudden Inbound Import Surge</a:t>
            </a:r>
            <a:br/>
            <a:r>
              <a:t>  • Surplus-to-Deficit Reversal Flips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Incident Lifecycle Management: Full operational workflow tracking (TRIGGERED -&gt; ACKNOWLEDGED -&gt; RESOLVED).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Enterprise Outbox Dispatcher: SMTP with STARTTLS support, simulated in-app Development Outbox fallback, and direct in-portal PDF downloads.</a:t>
            </a:r>
          </a:p>
        </p:txBody>
      </p:sp>
      <p:pic>
        <p:nvPicPr>
          <p:cNvPr id="9" name="Picture 8" descr="alerts_briefings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45948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REPORTING SUBSYSTEM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Multi-Page Executive PDF &amp; Excel Financial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Automated publication engine producing boardroom-ready PDF briefing dossiers and formatted OpenPyXL spreadsheets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Global Trade Analytics Platform • UN Comtrade Intelligence • Dhairyasheel Gaikwad          Slide 13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3891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REPORTING HIGHLIGHTS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ReportLab PDF Dossiers: Multi-page high-resolution executive reports with branded headers, KPI grids, trade balance distributions, and automated page numbering.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Integrated ML Projections: Embedded forecast tables displaying projected values, 95% confidence bands, and algorithm parameters.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OpenPyXL Financial Models: Styled header fills, formatted currency cells ($USD Billions), auto-fitted column widths, and summary statistical rows.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Verbatim Transparency Disclaimers: Prominent methodology notices explaining short-horizon caveats and baseline comparisons.</a:t>
            </a:r>
          </a:p>
        </p:txBody>
      </p:sp>
      <p:pic>
        <p:nvPicPr>
          <p:cNvPr id="9" name="Picture 8" descr="reports_export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QUALITY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Comprehensive Testing, Reliability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Rigorous automated test suites verifying mathematical consistency, security, and UI responsiveness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Global Trade Analytics Platform • UN Comtrade Intelligence • Dhairyasheel Gaikwad          Slide 14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167 PYTEST TESTS (100%)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167 Passed, 0 Failed (~50s execution across 17 test modules).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Authentication &amp; Security: Role-based access control, password hashing, JWT expiration.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Mathematical Consistency: Bilateral balance symmetry (Ind vs USA == - USA vs Ind).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ML Bounds Enforcement: Out-of-sample MAE comparisons, AIC/BIC validation, 95% CI expansion.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Alert Audits: Deficit delta thresholds, deduplication guards, outbox PDF persistence.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CLEAN FRONTEND BUILD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Vite 8 &amp; React 19: Clean production compilation in ~1.15 seconds.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2,539 Modules Transformed with zero syntax or bundling errors.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Gzip Optimization: Minified chunk distribution with asset caching.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Responsive Breakpoint Verification: Desktop (1440px), Tablet (768px), and Mobile (375px).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PLAYWRIGHT AUTOMATION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Headless Browser Verification: End-to-end user journey simulation.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0 Console Errors: Clean execution without unhandled exceptions.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Automated Screenshot Captures: Preserves visual proof across all module workflows.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Real-Time Interaction Testing: Presets, sliders, tab navigation, modals, and download links.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Summary, Real-World Impact &amp; Future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Transforming global trade data into proactive macroeconomic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Global Trade Analytics Platform • UN Comtrade Intelligence • Dhairyasheel Gaikwad          Slide 15 of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KEY ACHIEVEMENTS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Comprehensive End-to-End System: Covers full lifecycle from raw Comtrade ingestion to boardroom PDF briefing distribution.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Rigorous Econometric Foundations: Formalized international trade indices, Armington elasticities, and Box-Jenkins time-series models.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Zero-Regression Architecture: 167 automated tests guaranteeing 100% mathematical consistency and API reliability.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Enterprise-Grade UX: Modern responsive design with glassmorphism, interactive charts, and instant downloads.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FUTURE ROADMAP &amp; CONNECT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Granular HS 6-Digit Expansion: Drill down to micro-product lines (e.g. semiconductors, lithium-ion cells).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Real-Time FX &amp; Currency Adjustments: Purchasing power parity (PPP) and real effective exchange rate (REER) normalization.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Multilateral Trade Treaty Modeling: Simulating regional trade bloc agreements (RCEP, USMCA, CPTPP).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Author: Dhairyasheel Gaikwad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GitHub: https://github.com/dhairyasheel37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Email: dhairyasheelgaikwad8@gmail.com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